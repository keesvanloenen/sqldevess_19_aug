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07" r:id="rId5"/>
    <p:sldId id="348" r:id="rId6"/>
    <p:sldId id="327" r:id="rId7"/>
    <p:sldId id="330" r:id="rId8"/>
    <p:sldId id="329" r:id="rId9"/>
    <p:sldId id="345" r:id="rId10"/>
    <p:sldId id="347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4F2"/>
    <a:srgbClr val="007FC3"/>
    <a:srgbClr val="A0BBE3"/>
    <a:srgbClr val="FFFFFF"/>
    <a:srgbClr val="133561"/>
    <a:srgbClr val="DDDDDD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15" autoAdjust="0"/>
    <p:restoredTop sz="64573" autoAdjust="0"/>
  </p:normalViewPr>
  <p:slideViewPr>
    <p:cSldViewPr snapToGrid="0" showGuides="1">
      <p:cViewPr varScale="1">
        <p:scale>
          <a:sx n="84" d="100"/>
          <a:sy n="84" d="100"/>
        </p:scale>
        <p:origin x="124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14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89594637-A3CC-4652-9B90-35AB7373D2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D557059-6594-4B57-A484-2830965875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2B83F-F844-4C18-98E8-7C33F4B39DE0}" type="datetimeFigureOut">
              <a:rPr lang="nl-NL" smtClean="0"/>
              <a:t>31-8-2021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20DCB52-8F1D-4362-8B41-F61F774D56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3637DC-371B-45AA-8745-1A61A278CD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98C19-4A9E-4352-9074-F1483ACD97C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5091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96D34-C2B8-41FF-AE69-48AE3B3D8E8B}" type="datetimeFigureOut">
              <a:rPr lang="nl-NL" smtClean="0"/>
              <a:t>31-8-2021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0B036-1422-4C36-8158-C30E1C0769E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229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142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091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2923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130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1367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162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1641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600" y="1324800"/>
            <a:ext cx="9648000" cy="2387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6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50B04124-1E68-4203-A398-300DE8A9B0B3}"/>
              </a:ext>
            </a:extLst>
          </p:cNvPr>
          <p:cNvGrpSpPr/>
          <p:nvPr userDrawn="1"/>
        </p:nvGrpSpPr>
        <p:grpSpPr>
          <a:xfrm>
            <a:off x="-2172832" y="1897500"/>
            <a:ext cx="2046443" cy="2365970"/>
            <a:chOff x="-2172832" y="1897500"/>
            <a:chExt cx="2046443" cy="2365970"/>
          </a:xfrm>
        </p:grpSpPr>
        <p:sp>
          <p:nvSpPr>
            <p:cNvPr id="16" name="Toelichting 2">
              <a:extLst>
                <a:ext uri="{FF2B5EF4-FFF2-40B4-BE49-F238E27FC236}">
                  <a16:creationId xmlns:a16="http://schemas.microsoft.com/office/drawing/2014/main" id="{EF5FCD81-6E8D-44ED-B3BB-3D7A2722A3CE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20005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EC14DE48-4F0E-43EC-B736-6BEEB06E6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18" name="Pijl: links 17">
              <a:extLst>
                <a:ext uri="{FF2B5EF4-FFF2-40B4-BE49-F238E27FC236}">
                  <a16:creationId xmlns:a16="http://schemas.microsoft.com/office/drawing/2014/main" id="{BEFD3151-502C-4722-9080-A1720BC9EAF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19" name="Afbeelding 18">
              <a:extLst>
                <a:ext uri="{FF2B5EF4-FFF2-40B4-BE49-F238E27FC236}">
                  <a16:creationId xmlns:a16="http://schemas.microsoft.com/office/drawing/2014/main" id="{24130D00-8AA9-4DA1-8F00-36B2187743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730279" y="4015820"/>
              <a:ext cx="962025" cy="247650"/>
            </a:xfrm>
            <a:prstGeom prst="rect">
              <a:avLst/>
            </a:prstGeom>
          </p:spPr>
        </p:pic>
      </p:grpSp>
      <p:pic>
        <p:nvPicPr>
          <p:cNvPr id="5" name="Afbeelding 4">
            <a:extLst>
              <a:ext uri="{FF2B5EF4-FFF2-40B4-BE49-F238E27FC236}">
                <a16:creationId xmlns:a16="http://schemas.microsoft.com/office/drawing/2014/main" id="{69BFDD44-2866-4BB8-BAB3-956F9C108EE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22" name="Afbeelding 21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B13FCDC4-A14A-484F-9DBF-06586F7A83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0" y="891306"/>
            <a:ext cx="266699" cy="222250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5862216"/>
            <a:ext cx="1558406" cy="4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47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donkere f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6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6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50B04124-1E68-4203-A398-300DE8A9B0B3}"/>
              </a:ext>
            </a:extLst>
          </p:cNvPr>
          <p:cNvGrpSpPr/>
          <p:nvPr userDrawn="1"/>
        </p:nvGrpSpPr>
        <p:grpSpPr>
          <a:xfrm>
            <a:off x="-2172832" y="1897500"/>
            <a:ext cx="2046443" cy="2365970"/>
            <a:chOff x="-2172832" y="1897500"/>
            <a:chExt cx="2046443" cy="2365970"/>
          </a:xfrm>
        </p:grpSpPr>
        <p:sp>
          <p:nvSpPr>
            <p:cNvPr id="16" name="Toelichting 2">
              <a:extLst>
                <a:ext uri="{FF2B5EF4-FFF2-40B4-BE49-F238E27FC236}">
                  <a16:creationId xmlns:a16="http://schemas.microsoft.com/office/drawing/2014/main" id="{EF5FCD81-6E8D-44ED-B3BB-3D7A2722A3CE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20005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EC14DE48-4F0E-43EC-B736-6BEEB06E6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18" name="Pijl: links 17">
              <a:extLst>
                <a:ext uri="{FF2B5EF4-FFF2-40B4-BE49-F238E27FC236}">
                  <a16:creationId xmlns:a16="http://schemas.microsoft.com/office/drawing/2014/main" id="{BEFD3151-502C-4722-9080-A1720BC9EAF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19" name="Afbeelding 18">
              <a:extLst>
                <a:ext uri="{FF2B5EF4-FFF2-40B4-BE49-F238E27FC236}">
                  <a16:creationId xmlns:a16="http://schemas.microsoft.com/office/drawing/2014/main" id="{24130D00-8AA9-4DA1-8F00-36B2187743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730279" y="4015820"/>
              <a:ext cx="962025" cy="247650"/>
            </a:xfrm>
            <a:prstGeom prst="rect">
              <a:avLst/>
            </a:prstGeom>
          </p:spPr>
        </p:pic>
      </p:grp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7600" y="892800"/>
            <a:ext cx="266400" cy="223200"/>
          </a:xfrm>
          <a:blipFill dpi="0" rotWithShape="1">
            <a:blip r:embed="rId4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4000" y="5860800"/>
            <a:ext cx="1558800" cy="475200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4" name="Toelichting 2">
            <a:extLst>
              <a:ext uri="{FF2B5EF4-FFF2-40B4-BE49-F238E27FC236}">
                <a16:creationId xmlns:a16="http://schemas.microsoft.com/office/drawing/2014/main" id="{A25424A8-6ADE-4C80-B106-497161FBD436}"/>
              </a:ext>
            </a:extLst>
          </p:cNvPr>
          <p:cNvSpPr txBox="1"/>
          <p:nvPr userDrawn="1"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Foto instellen</a:t>
            </a:r>
          </a:p>
          <a:p>
            <a:pPr>
              <a:lnSpc>
                <a:spcPct val="100000"/>
              </a:lnSpc>
            </a:pPr>
            <a:r>
              <a:rPr lang="nl-NL" sz="105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>
              <a:lnSpc>
                <a:spcPct val="100000"/>
              </a:lnSpc>
            </a:pPr>
            <a:endParaRPr lang="nl-NL" sz="105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Bijsnijden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5" name="Toelichting 2">
            <a:extLst>
              <a:ext uri="{FF2B5EF4-FFF2-40B4-BE49-F238E27FC236}">
                <a16:creationId xmlns:a16="http://schemas.microsoft.com/office/drawing/2014/main" id="{BA9CD39E-B253-4330-9459-D93654698BBF}"/>
              </a:ext>
            </a:extLst>
          </p:cNvPr>
          <p:cNvSpPr txBox="1"/>
          <p:nvPr userDrawn="1"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Dia herstellen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Opnieuw instellen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50" b="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Afbeeldingen comprimeren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en selecteer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Bijgesneden gebieden van afbeeldingen verwijderen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064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lichte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6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6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50B04124-1E68-4203-A398-300DE8A9B0B3}"/>
              </a:ext>
            </a:extLst>
          </p:cNvPr>
          <p:cNvGrpSpPr/>
          <p:nvPr userDrawn="1"/>
        </p:nvGrpSpPr>
        <p:grpSpPr>
          <a:xfrm>
            <a:off x="-2172832" y="1897500"/>
            <a:ext cx="2046443" cy="2365970"/>
            <a:chOff x="-2172832" y="1897500"/>
            <a:chExt cx="2046443" cy="2365970"/>
          </a:xfrm>
        </p:grpSpPr>
        <p:sp>
          <p:nvSpPr>
            <p:cNvPr id="16" name="Toelichting 2">
              <a:extLst>
                <a:ext uri="{FF2B5EF4-FFF2-40B4-BE49-F238E27FC236}">
                  <a16:creationId xmlns:a16="http://schemas.microsoft.com/office/drawing/2014/main" id="{EF5FCD81-6E8D-44ED-B3BB-3D7A2722A3CE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20005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EC14DE48-4F0E-43EC-B736-6BEEB06E6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18" name="Pijl: links 17">
              <a:extLst>
                <a:ext uri="{FF2B5EF4-FFF2-40B4-BE49-F238E27FC236}">
                  <a16:creationId xmlns:a16="http://schemas.microsoft.com/office/drawing/2014/main" id="{BEFD3151-502C-4722-9080-A1720BC9EAF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19" name="Afbeelding 18">
              <a:extLst>
                <a:ext uri="{FF2B5EF4-FFF2-40B4-BE49-F238E27FC236}">
                  <a16:creationId xmlns:a16="http://schemas.microsoft.com/office/drawing/2014/main" id="{24130D00-8AA9-4DA1-8F00-36B2187743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730279" y="4015820"/>
              <a:ext cx="962025" cy="247650"/>
            </a:xfrm>
            <a:prstGeom prst="rect">
              <a:avLst/>
            </a:prstGeom>
          </p:spPr>
        </p:pic>
      </p:grp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7600" y="896400"/>
            <a:ext cx="270000" cy="223200"/>
          </a:xfrm>
          <a:blipFill dpi="0" rotWithShape="1">
            <a:blip r:embed="rId4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4000" y="5864400"/>
            <a:ext cx="1548000" cy="471600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0" name="Toelichting 2">
            <a:extLst>
              <a:ext uri="{FF2B5EF4-FFF2-40B4-BE49-F238E27FC236}">
                <a16:creationId xmlns:a16="http://schemas.microsoft.com/office/drawing/2014/main" id="{58888936-6C5E-417F-BEF5-E2EF5FB87309}"/>
              </a:ext>
            </a:extLst>
          </p:cNvPr>
          <p:cNvSpPr txBox="1"/>
          <p:nvPr userDrawn="1"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Foto instellen</a:t>
            </a:r>
          </a:p>
          <a:p>
            <a:pPr>
              <a:lnSpc>
                <a:spcPct val="100000"/>
              </a:lnSpc>
            </a:pPr>
            <a:r>
              <a:rPr lang="nl-NL" sz="105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>
              <a:lnSpc>
                <a:spcPct val="100000"/>
              </a:lnSpc>
            </a:pPr>
            <a:endParaRPr lang="nl-NL" sz="105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Bijsnijden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1" name="Toelichting 2">
            <a:extLst>
              <a:ext uri="{FF2B5EF4-FFF2-40B4-BE49-F238E27FC236}">
                <a16:creationId xmlns:a16="http://schemas.microsoft.com/office/drawing/2014/main" id="{0F8C9FE2-BA24-4C8F-A357-4D9EF1B0D229}"/>
              </a:ext>
            </a:extLst>
          </p:cNvPr>
          <p:cNvSpPr txBox="1"/>
          <p:nvPr userDrawn="1"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Dia herstellen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Opnieuw instellen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50" b="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Afbeeldingen comprimeren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en selecteer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Bijgesneden gebieden van afbeeldingen verwijderen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422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A4D82EB-A068-41A9-80F3-33E950159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71EEF6-DBD1-426F-A2DA-726A66514C22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14810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ED5F24-06BD-462B-BA0F-255F2F811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9AC1BE-8B1E-470A-A65A-4D969FAD1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9" name="Toelichting 2">
            <a:extLst>
              <a:ext uri="{FF2B5EF4-FFF2-40B4-BE49-F238E27FC236}">
                <a16:creationId xmlns:a16="http://schemas.microsoft.com/office/drawing/2014/main" id="{48F364DB-B536-4EB7-8EBE-116D7A2DD3D0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5B43CF-2B78-4B0E-B67D-E748CB02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43137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 met ond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oelichting 2">
            <a:extLst>
              <a:ext uri="{FF2B5EF4-FFF2-40B4-BE49-F238E27FC236}">
                <a16:creationId xmlns:a16="http://schemas.microsoft.com/office/drawing/2014/main" id="{48F364DB-B536-4EB7-8EBE-116D7A2DD3D0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390A494-4717-4029-B60D-381CEB1DF1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999" y="2016000"/>
            <a:ext cx="9864000" cy="59055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[ondertitel]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78713771-FD45-4006-8385-08CF79251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613439"/>
            <a:ext cx="4752000" cy="35525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inhoud 3">
            <a:extLst>
              <a:ext uri="{FF2B5EF4-FFF2-40B4-BE49-F238E27FC236}">
                <a16:creationId xmlns:a16="http://schemas.microsoft.com/office/drawing/2014/main" id="{0FD2E632-CCBA-4A49-B173-C6E074472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613439"/>
            <a:ext cx="4752000" cy="35525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2FAE7D-E99E-42B0-A84F-B037C244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85127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oelichting 2">
            <a:extLst>
              <a:ext uri="{FF2B5EF4-FFF2-40B4-BE49-F238E27FC236}">
                <a16:creationId xmlns:a16="http://schemas.microsoft.com/office/drawing/2014/main" id="{48F364DB-B536-4EB7-8EBE-116D7A2DD3D0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96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02DE95-ADC6-47B0-AEFA-B8503F51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756742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oelichting 2">
            <a:extLst>
              <a:ext uri="{FF2B5EF4-FFF2-40B4-BE49-F238E27FC236}">
                <a16:creationId xmlns:a16="http://schemas.microsoft.com/office/drawing/2014/main" id="{48F364DB-B536-4EB7-8EBE-116D7A2DD3D0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8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8FCF43-34BC-4877-99C4-553FED40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197731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F53FA-EE09-4A0C-92EE-E4B8A636A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600" y="1324801"/>
            <a:ext cx="6861600" cy="2358200"/>
          </a:xfrm>
        </p:spPr>
        <p:txBody>
          <a:bodyPr anchor="t" anchorCtr="0"/>
          <a:lstStyle>
            <a:lvl1pPr>
              <a:defRPr sz="47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[hoofdstuktitel]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4959B75-7C22-46B5-B30C-BC3F15F358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7600" y="3894246"/>
            <a:ext cx="6861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[ondertitel of toelichting]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F806D8B-5DD1-4AC8-881B-942EAB79FC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9" name="Afbeelding 8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780794D5-73D1-4667-A8F7-1FFB0EDB22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0" y="891306"/>
            <a:ext cx="266699" cy="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0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251F923-90BC-40F3-8BDA-DB17BAC4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81988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ige driehoek 4">
            <a:extLst>
              <a:ext uri="{FF2B5EF4-FFF2-40B4-BE49-F238E27FC236}">
                <a16:creationId xmlns:a16="http://schemas.microsoft.com/office/drawing/2014/main" id="{7B950D76-FDB9-4D4D-8E5F-9E36F651D41E}"/>
              </a:ext>
            </a:extLst>
          </p:cNvPr>
          <p:cNvSpPr/>
          <p:nvPr userDrawn="1"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0951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sluit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69BFDD44-2866-4BB8-BAB3-956F9C108E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99" y="5257800"/>
            <a:ext cx="3534451" cy="1081088"/>
          </a:xfrm>
          <a:prstGeom prst="rect">
            <a:avLst/>
          </a:prstGeom>
        </p:spPr>
      </p:pic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5F27743-4FBD-454F-B003-399F0DD3C9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7600" y="1203770"/>
            <a:ext cx="7797800" cy="1694004"/>
          </a:xfr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[afsluitgroet]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22CD84B-886E-4595-BFBC-7504B9A0CE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7600" y="3588345"/>
            <a:ext cx="4800600" cy="10810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[contactgegevens]</a:t>
            </a:r>
          </a:p>
        </p:txBody>
      </p:sp>
    </p:spTree>
    <p:extLst>
      <p:ext uri="{BB962C8B-B14F-4D97-AF65-F5344CB8AC3E}">
        <p14:creationId xmlns:p14="http://schemas.microsoft.com/office/powerpoint/2010/main" val="126005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B40F12D-8035-4195-930D-B791F468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DA64035-B49A-4536-A334-06A23F564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6000" y="2016000"/>
            <a:ext cx="9864000" cy="414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Rechthoekige driehoek 10">
            <a:extLst>
              <a:ext uri="{FF2B5EF4-FFF2-40B4-BE49-F238E27FC236}">
                <a16:creationId xmlns:a16="http://schemas.microsoft.com/office/drawing/2014/main" id="{330D8806-E372-45EA-882A-A3971C1ABBA5}"/>
              </a:ext>
            </a:extLst>
          </p:cNvPr>
          <p:cNvSpPr/>
          <p:nvPr userDrawn="1"/>
        </p:nvSpPr>
        <p:spPr>
          <a:xfrm flipH="1">
            <a:off x="777714" y="999026"/>
            <a:ext cx="198000" cy="19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5EC37B98-C211-4E5B-9560-4231BD5B7FC9}"/>
              </a:ext>
            </a:extLst>
          </p:cNvPr>
          <p:cNvSpPr/>
          <p:nvPr userDrawn="1"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1EEF6-DBD1-426F-A2DA-726A66514C22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488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0" r:id="rId4"/>
    <p:sldLayoutId id="2147483652" r:id="rId5"/>
    <p:sldLayoutId id="2147483662" r:id="rId6"/>
    <p:sldLayoutId id="2147483659" r:id="rId7"/>
    <p:sldLayoutId id="2147483660" r:id="rId8"/>
    <p:sldLayoutId id="2147483651" r:id="rId9"/>
    <p:sldLayoutId id="2147483654" r:id="rId10"/>
    <p:sldLayoutId id="2147483655" r:id="rId11"/>
    <p:sldLayoutId id="2147483658" r:id="rId12"/>
  </p:sldLayoutIdLst>
  <p:hf hdr="0" dt="0"/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20000"/>
        </a:lnSpc>
        <a:spcBef>
          <a:spcPts val="0"/>
        </a:spcBef>
        <a:buClrTx/>
        <a:buSzPct val="25000"/>
        <a:buFont typeface="Arial" panose="020B0604030504040204" pitchFamily="34" charset="0"/>
        <a:buChar char="'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tx1"/>
        </a:buClr>
        <a:buSzPct val="25000"/>
        <a:buFont typeface="Arial" panose="020B0604030504040204" pitchFamily="34" charset="0"/>
        <a:buChar char="'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Data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sz="11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2D1E6D-F9BE-45DD-9E19-3AC27D5FAD91}"/>
              </a:ext>
            </a:extLst>
          </p:cNvPr>
          <p:cNvGrpSpPr/>
          <p:nvPr/>
        </p:nvGrpSpPr>
        <p:grpSpPr>
          <a:xfrm>
            <a:off x="6593983" y="2518600"/>
            <a:ext cx="4042747" cy="2083252"/>
            <a:chOff x="4283968" y="2969267"/>
            <a:chExt cx="4042747" cy="20832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D934DF-9DF7-4602-9B9F-0E1A818CB968}"/>
                </a:ext>
              </a:extLst>
            </p:cNvPr>
            <p:cNvSpPr txBox="1"/>
            <p:nvPr/>
          </p:nvSpPr>
          <p:spPr>
            <a:xfrm>
              <a:off x="5147760" y="3493527"/>
              <a:ext cx="1657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bigint</a:t>
              </a:r>
              <a:endParaRPr lang="nl-NL" sz="48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A4B134C-AEDE-48F6-A515-1DABEF01725D}"/>
                </a:ext>
              </a:extLst>
            </p:cNvPr>
            <p:cNvSpPr txBox="1"/>
            <p:nvPr/>
          </p:nvSpPr>
          <p:spPr>
            <a:xfrm>
              <a:off x="7236296" y="3137956"/>
              <a:ext cx="726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char</a:t>
              </a:r>
              <a:endParaRPr lang="nl-NL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E03D1D-8FD0-427F-964E-172644E3BD07}"/>
                </a:ext>
              </a:extLst>
            </p:cNvPr>
            <p:cNvSpPr txBox="1"/>
            <p:nvPr/>
          </p:nvSpPr>
          <p:spPr>
            <a:xfrm>
              <a:off x="5789956" y="3220373"/>
              <a:ext cx="8709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date</a:t>
              </a:r>
              <a:endParaRPr lang="nl-NL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449821-5C67-4F4E-A18C-1842DD32A393}"/>
                </a:ext>
              </a:extLst>
            </p:cNvPr>
            <p:cNvSpPr txBox="1"/>
            <p:nvPr/>
          </p:nvSpPr>
          <p:spPr>
            <a:xfrm>
              <a:off x="4746198" y="3097263"/>
              <a:ext cx="8709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real</a:t>
              </a:r>
              <a:endParaRPr lang="nl-NL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4C11A0-B3C9-46D0-BE6D-CBC9CBFA0AD8}"/>
                </a:ext>
              </a:extLst>
            </p:cNvPr>
            <p:cNvSpPr txBox="1"/>
            <p:nvPr/>
          </p:nvSpPr>
          <p:spPr>
            <a:xfrm rot="16200000">
              <a:off x="3537090" y="3716145"/>
              <a:ext cx="20169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datetime2</a:t>
              </a:r>
              <a:endParaRPr lang="nl-NL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B54EBB-1272-494A-B918-72AF13B5130E}"/>
                </a:ext>
              </a:extLst>
            </p:cNvPr>
            <p:cNvSpPr txBox="1"/>
            <p:nvPr/>
          </p:nvSpPr>
          <p:spPr>
            <a:xfrm rot="5400000">
              <a:off x="7144447" y="4059214"/>
              <a:ext cx="1401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money</a:t>
              </a:r>
              <a:endParaRPr lang="nl-NL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40F612-F180-49B3-A942-0A86A1DD25B8}"/>
                </a:ext>
              </a:extLst>
            </p:cNvPr>
            <p:cNvSpPr txBox="1"/>
            <p:nvPr/>
          </p:nvSpPr>
          <p:spPr>
            <a:xfrm>
              <a:off x="4712272" y="4093690"/>
              <a:ext cx="11839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time</a:t>
              </a:r>
              <a:endParaRPr lang="nl-NL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B2E70E-BCDE-44D0-B2C5-E08B6C3EF3B7}"/>
                </a:ext>
              </a:extLst>
            </p:cNvPr>
            <p:cNvSpPr txBox="1"/>
            <p:nvPr/>
          </p:nvSpPr>
          <p:spPr>
            <a:xfrm>
              <a:off x="5857845" y="4032136"/>
              <a:ext cx="24688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geometry</a:t>
              </a:r>
              <a:endParaRPr lang="nl-NL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15EDE6-0B99-4F9E-8428-647B4F19959F}"/>
                </a:ext>
              </a:extLst>
            </p:cNvPr>
            <p:cNvSpPr txBox="1"/>
            <p:nvPr/>
          </p:nvSpPr>
          <p:spPr>
            <a:xfrm>
              <a:off x="6448054" y="3093417"/>
              <a:ext cx="7332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int</a:t>
              </a:r>
              <a:endParaRPr lang="nl-NL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B21EAF-30B0-4078-858F-D4FBBAB4C778}"/>
                </a:ext>
              </a:extLst>
            </p:cNvPr>
            <p:cNvSpPr txBox="1"/>
            <p:nvPr/>
          </p:nvSpPr>
          <p:spPr>
            <a:xfrm>
              <a:off x="6589988" y="4616911"/>
              <a:ext cx="1581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tinyint</a:t>
              </a:r>
              <a:endParaRPr lang="nl-NL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0AE811-87E1-469E-9722-5F1E9B7F0E94}"/>
                </a:ext>
              </a:extLst>
            </p:cNvPr>
            <p:cNvSpPr txBox="1"/>
            <p:nvPr/>
          </p:nvSpPr>
          <p:spPr>
            <a:xfrm>
              <a:off x="4843403" y="4406186"/>
              <a:ext cx="20169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decimal</a:t>
              </a:r>
              <a:endParaRPr lang="nl-NL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B9B4D7-48A1-4AC6-A1E1-1902C895ABA9}"/>
                </a:ext>
              </a:extLst>
            </p:cNvPr>
            <p:cNvSpPr txBox="1"/>
            <p:nvPr/>
          </p:nvSpPr>
          <p:spPr>
            <a:xfrm>
              <a:off x="6738430" y="3531878"/>
              <a:ext cx="12103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xml</a:t>
              </a:r>
              <a:endParaRPr lang="nl-NL" sz="40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556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707820"/>
          </a:xfrm>
        </p:spPr>
        <p:txBody>
          <a:bodyPr/>
          <a:lstStyle/>
          <a:p>
            <a:r>
              <a:rPr lang="nl-NL" dirty="0"/>
              <a:t>Waar gebruiken we data types?</a:t>
            </a:r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8FC904D1-9B94-4B67-9FA3-C8C4926AF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594" y="2016000"/>
            <a:ext cx="4034670" cy="1847340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>
            <a:normAutofit/>
          </a:bodyPr>
          <a:lstStyle/>
          <a:p>
            <a:pPr marL="0" indent="0"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nl-NL" sz="1800" dirty="0">
                <a:latin typeface="Consolas" panose="020B0609020204030204" pitchFamily="49" charset="0"/>
              </a:rPr>
              <a:t>    </a:t>
            </a:r>
            <a:r>
              <a:rPr lang="nl-NL" sz="1800" dirty="0" err="1">
                <a:latin typeface="Consolas" panose="020B0609020204030204" pitchFamily="49" charset="0"/>
              </a:rPr>
              <a:t>productid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    ,</a:t>
            </a:r>
            <a:r>
              <a:rPr lang="de-DE" sz="1800" dirty="0">
                <a:latin typeface="Consolas" panose="020B0609020204030204" pitchFamily="49" charset="0"/>
              </a:rPr>
              <a:t> </a:t>
            </a:r>
            <a:r>
              <a:rPr lang="de-DE" sz="1800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de-DE" sz="1800" dirty="0" err="1">
                <a:latin typeface="Consolas" panose="020B0609020204030204" pitchFamily="49" charset="0"/>
              </a:rPr>
              <a:t>gewicht</a:t>
            </a:r>
            <a:r>
              <a:rPr lang="de-DE" sz="1800" dirty="0">
                <a:latin typeface="Consolas" panose="020B0609020204030204" pitchFamily="49" charset="0"/>
              </a:rPr>
              <a:t> </a:t>
            </a:r>
            <a:r>
              <a:rPr lang="de-DE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de-DE" sz="1800" dirty="0">
                <a:latin typeface="Consolas" panose="020B0609020204030204" pitchFamily="49" charset="0"/>
              </a:rPr>
              <a:t> </a:t>
            </a:r>
            <a:r>
              <a:rPr lang="de-DE" sz="18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de-DE" sz="1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de-DE" sz="18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</a:rPr>
              <a:t>Productie</a:t>
            </a:r>
            <a:r>
              <a:rPr lang="nl-NL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nl-NL" sz="1800" dirty="0" err="1">
                <a:latin typeface="Consolas" panose="020B0609020204030204" pitchFamily="49" charset="0"/>
              </a:rPr>
              <a:t>Producten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gewicht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IS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NULL;</a:t>
            </a:r>
            <a:endParaRPr lang="en-US" sz="1800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7F9E6231-8434-4E1E-88BE-0A4EB1C5F1D9}"/>
              </a:ext>
            </a:extLst>
          </p:cNvPr>
          <p:cNvSpPr txBox="1">
            <a:spLocks/>
          </p:cNvSpPr>
          <p:nvPr/>
        </p:nvSpPr>
        <p:spPr>
          <a:xfrm>
            <a:off x="792801" y="1610101"/>
            <a:ext cx="3801780" cy="3963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5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400" b="1" dirty="0"/>
              <a:t>1. Query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E65B67FA-0282-4CA4-9AC5-1DA67A3B82E5}"/>
              </a:ext>
            </a:extLst>
          </p:cNvPr>
          <p:cNvSpPr txBox="1">
            <a:spLocks/>
          </p:cNvSpPr>
          <p:nvPr/>
        </p:nvSpPr>
        <p:spPr>
          <a:xfrm>
            <a:off x="5866692" y="2025569"/>
            <a:ext cx="5293308" cy="20645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72000" tIns="72000" rIns="72000" bIns="72000" rtlCol="0">
            <a:normAutofit lnSpcReduction="10000"/>
          </a:bodyPr>
          <a:lstStyle>
            <a:lvl1pPr marL="252000" indent="-25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SzPct val="25000"/>
              <a:buFont typeface="Arial" panose="020B0604030504040204" pitchFamily="34" charset="0"/>
              <a:buChar char="'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25000"/>
              <a:buFont typeface="Arial" panose="020B0604030504040204" pitchFamily="34" charset="0"/>
              <a:buChar char="'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</a:rPr>
              <a:t>Personen</a:t>
            </a:r>
            <a:r>
              <a:rPr lang="nl-NL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nl-NL" sz="1800" dirty="0" err="1">
                <a:latin typeface="Consolas" panose="020B0609020204030204" pitchFamily="49" charset="0"/>
              </a:rPr>
              <a:t>Spelers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spelerID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latin typeface="Consolas" panose="020B0609020204030204" pitchFamily="49" charset="0"/>
              </a:rPr>
              <a:t>achternaam </a:t>
            </a:r>
            <a:r>
              <a:rPr lang="nl-NL" sz="18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nvarchar</a:t>
            </a:r>
            <a:r>
              <a:rPr lang="nl-NL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nl-NL" sz="1800" dirty="0">
                <a:highlight>
                  <a:srgbClr val="FFFF00"/>
                </a:highlight>
                <a:latin typeface="Consolas" panose="020B0609020204030204" pitchFamily="49" charset="0"/>
              </a:rPr>
              <a:t>30</a:t>
            </a:r>
            <a:r>
              <a:rPr lang="nl-NL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NULL,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latin typeface="Consolas" panose="020B0609020204030204" pitchFamily="49" charset="0"/>
              </a:rPr>
              <a:t>geboortedatum </a:t>
            </a:r>
            <a:r>
              <a:rPr lang="nl-NL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date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NULL,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 err="1">
                <a:latin typeface="Consolas" panose="020B0609020204030204" pitchFamily="49" charset="0"/>
              </a:rPr>
              <a:t>landID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smallint</a:t>
            </a:r>
            <a:endParaRPr lang="nl-NL" sz="1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5A8225B7-4B8B-4C25-BFBE-3A46FA1AF8FF}"/>
              </a:ext>
            </a:extLst>
          </p:cNvPr>
          <p:cNvSpPr txBox="1">
            <a:spLocks/>
          </p:cNvSpPr>
          <p:nvPr/>
        </p:nvSpPr>
        <p:spPr>
          <a:xfrm>
            <a:off x="5866692" y="1619670"/>
            <a:ext cx="3801780" cy="3963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5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400" b="1" dirty="0"/>
              <a:t>2. Tabel kolommen</a:t>
            </a:r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355D49A3-B88E-4AC4-9BCE-6F0B4897F4FE}"/>
              </a:ext>
            </a:extLst>
          </p:cNvPr>
          <p:cNvSpPr txBox="1">
            <a:spLocks/>
          </p:cNvSpPr>
          <p:nvPr/>
        </p:nvSpPr>
        <p:spPr>
          <a:xfrm>
            <a:off x="792522" y="4870709"/>
            <a:ext cx="4082742" cy="16573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72000" tIns="72000" rIns="72000" bIns="72000" rtlCol="0">
            <a:normAutofit lnSpcReduction="10000"/>
          </a:bodyPr>
          <a:lstStyle>
            <a:lvl1pPr marL="252000" indent="-25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SzPct val="25000"/>
              <a:buFont typeface="Arial" panose="020B0604030504040204" pitchFamily="34" charset="0"/>
              <a:buChar char="'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25000"/>
              <a:buFont typeface="Arial" panose="020B0604030504040204" pitchFamily="34" charset="0"/>
              <a:buChar char="'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nl-NL" sz="1800" dirty="0">
                <a:latin typeface="Consolas" panose="020B0609020204030204" pitchFamily="49" charset="0"/>
              </a:rPr>
              <a:t> @</a:t>
            </a:r>
            <a:r>
              <a:rPr lang="nl-NL" sz="1800" dirty="0" err="1">
                <a:latin typeface="Consolas" panose="020B0609020204030204" pitchFamily="49" charset="0"/>
              </a:rPr>
              <a:t>id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nl-NL" sz="1800" dirty="0">
                <a:latin typeface="Consolas" panose="020B0609020204030204" pitchFamily="49" charset="0"/>
              </a:rPr>
              <a:t> 12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</a:rPr>
              <a:t>Personen</a:t>
            </a:r>
            <a:r>
              <a:rPr lang="nl-NL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nl-NL" sz="1800" dirty="0" err="1">
                <a:latin typeface="Consolas" panose="020B0609020204030204" pitchFamily="49" charset="0"/>
              </a:rPr>
              <a:t>Spelers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</a:rPr>
              <a:t>spelerid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nl-NL" sz="1800" dirty="0">
                <a:latin typeface="Consolas" panose="020B0609020204030204" pitchFamily="49" charset="0"/>
              </a:rPr>
              <a:t> @</a:t>
            </a:r>
            <a:r>
              <a:rPr lang="nl-NL" sz="1800" dirty="0" err="1">
                <a:latin typeface="Consolas" panose="020B0609020204030204" pitchFamily="49" charset="0"/>
              </a:rPr>
              <a:t>id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/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4E52358B-8CFD-4391-8F03-AA764CC9B0B4}"/>
              </a:ext>
            </a:extLst>
          </p:cNvPr>
          <p:cNvSpPr txBox="1">
            <a:spLocks/>
          </p:cNvSpPr>
          <p:nvPr/>
        </p:nvSpPr>
        <p:spPr>
          <a:xfrm>
            <a:off x="792522" y="4451520"/>
            <a:ext cx="3801780" cy="3963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5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400" b="1" dirty="0"/>
              <a:t>3. Variabele</a:t>
            </a:r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2A025182-10C0-4FA4-B4AC-16B3005C9518}"/>
              </a:ext>
            </a:extLst>
          </p:cNvPr>
          <p:cNvSpPr txBox="1">
            <a:spLocks/>
          </p:cNvSpPr>
          <p:nvPr/>
        </p:nvSpPr>
        <p:spPr bwMode="auto">
          <a:xfrm>
            <a:off x="5866692" y="4883627"/>
            <a:ext cx="5293308" cy="16860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0000"/>
              <a:buFontTx/>
              <a:buBlip>
                <a:blip r:embed="rId3"/>
              </a:buBlip>
              <a:defRPr sz="3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</a:rPr>
              <a:t>HR</a:t>
            </a:r>
            <a:r>
              <a:rPr lang="nl-NL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nl-NL" sz="1800" dirty="0" err="1">
                <a:latin typeface="Consolas" panose="020B0609020204030204" pitchFamily="49" charset="0"/>
              </a:rPr>
              <a:t>PersonenInPlaats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FontTx/>
              <a:buNone/>
            </a:pPr>
            <a:r>
              <a:rPr lang="nl-NL" sz="1800" dirty="0">
                <a:latin typeface="Consolas" panose="020B0609020204030204" pitchFamily="49" charset="0"/>
              </a:rPr>
              <a:t>    @plaats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nvarchar</a:t>
            </a:r>
            <a:r>
              <a:rPr lang="nl-NL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nl-NL" sz="1800" dirty="0">
                <a:highlight>
                  <a:srgbClr val="FFFF00"/>
                </a:highlight>
                <a:latin typeface="Consolas" panose="020B0609020204030204" pitchFamily="49" charset="0"/>
              </a:rPr>
              <a:t>30</a:t>
            </a:r>
            <a:r>
              <a:rPr lang="nl-NL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endParaRPr lang="nl-NL" sz="1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</a:rPr>
              <a:t>HR</a:t>
            </a:r>
            <a:r>
              <a:rPr lang="nl-NL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nl-NL" sz="1800" dirty="0" err="1">
                <a:latin typeface="Consolas" panose="020B0609020204030204" pitchFamily="49" charset="0"/>
              </a:rPr>
              <a:t>Medewerkers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nl-NL" sz="1800" dirty="0">
                <a:latin typeface="Consolas" panose="020B0609020204030204" pitchFamily="49" charset="0"/>
              </a:rPr>
              <a:t> plaats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nl-NL" sz="1800" dirty="0">
                <a:latin typeface="Consolas" panose="020B0609020204030204" pitchFamily="49" charset="0"/>
              </a:rPr>
              <a:t> @plaats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FFA11DA0-7174-4BBB-BDC3-4C8FBAF3D8B1}"/>
              </a:ext>
            </a:extLst>
          </p:cNvPr>
          <p:cNvSpPr txBox="1">
            <a:spLocks/>
          </p:cNvSpPr>
          <p:nvPr/>
        </p:nvSpPr>
        <p:spPr>
          <a:xfrm>
            <a:off x="5866692" y="4451520"/>
            <a:ext cx="5448202" cy="3963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5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400" b="1" dirty="0"/>
              <a:t>4. </a:t>
            </a:r>
            <a:r>
              <a:rPr lang="nl-NL" sz="2400" b="1" dirty="0" err="1"/>
              <a:t>Stored</a:t>
            </a:r>
            <a:r>
              <a:rPr lang="nl-NL" sz="2400" b="1" dirty="0"/>
              <a:t> Procedures, </a:t>
            </a:r>
            <a:r>
              <a:rPr lang="nl-NL" sz="2400" b="1" dirty="0" err="1"/>
              <a:t>Functions</a:t>
            </a:r>
            <a:r>
              <a:rPr lang="nl-NL" sz="2400" b="1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4207944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NL" dirty="0"/>
              <a:t>Exact Numeriek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Benaderd Numeriek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r>
              <a:rPr lang="nl-NL" dirty="0" err="1"/>
              <a:t>Binary</a:t>
            </a:r>
            <a:r>
              <a:rPr lang="nl-NL" dirty="0"/>
              <a:t> String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types 1/3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697188"/>
              </p:ext>
            </p:extLst>
          </p:nvPr>
        </p:nvGraphicFramePr>
        <p:xfrm>
          <a:off x="1565846" y="2507570"/>
          <a:ext cx="4245293" cy="3950052"/>
        </p:xfrm>
        <a:graphic>
          <a:graphicData uri="http://schemas.openxmlformats.org/drawingml/2006/table">
            <a:tbl>
              <a:tblPr/>
              <a:tblGrid>
                <a:gridCol w="130308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32409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bigint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integer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-2^63 tot 2^63-1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integer -2^31 tot 2^31-1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  <a:tr h="2347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smallint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integer -2^15 tot 2^15-1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70674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integer 0 t/m 255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001320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bit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0, 1, NULL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4275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decimal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p,s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nl-NL" sz="16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5-17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numeriek</a:t>
                      </a:r>
                      <a:b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precisie 1-38 (</a:t>
                      </a:r>
                      <a:r>
                        <a:rPr lang="nl-NL" sz="16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stndrd</a:t>
                      </a: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18)</a:t>
                      </a:r>
                      <a:b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schaal 0-p (</a:t>
                      </a:r>
                      <a:r>
                        <a:rPr lang="nl-NL" sz="16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stndrd</a:t>
                      </a: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0)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969457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numeric</a:t>
                      </a: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p,s</a:t>
                      </a: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5-17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zelfde als hierboven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13372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money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financieel 4 decimalen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040243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smallmoney</a:t>
                      </a:r>
                      <a:endParaRPr lang="nl-NL" sz="16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financieel 4 decimalen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822306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224937"/>
              </p:ext>
            </p:extLst>
          </p:nvPr>
        </p:nvGraphicFramePr>
        <p:xfrm>
          <a:off x="6677846" y="2507570"/>
          <a:ext cx="4212307" cy="1303944"/>
        </p:xfrm>
        <a:graphic>
          <a:graphicData uri="http://schemas.openxmlformats.org/drawingml/2006/table">
            <a:tbl>
              <a:tblPr/>
              <a:tblGrid>
                <a:gridCol w="99930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2489103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(m)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4-8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mant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</a:t>
                      </a: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1-24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bits = 4 bytes</a:t>
                      </a:r>
                      <a:b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mant = 25-53 bits = 8 bytes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real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synoniem voor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nl-NL" sz="16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(24)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501161"/>
              </p:ext>
            </p:extLst>
          </p:nvPr>
        </p:nvGraphicFramePr>
        <p:xfrm>
          <a:off x="6677845" y="4734073"/>
          <a:ext cx="4212307" cy="1383763"/>
        </p:xfrm>
        <a:graphic>
          <a:graphicData uri="http://schemas.openxmlformats.org/drawingml/2006/table">
            <a:tbl>
              <a:tblPr/>
              <a:tblGrid>
                <a:gridCol w="1494605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1441352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varbinary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(n)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 + 2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varbinary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(max)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1-2.1 biljoen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 + 2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82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7267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NL" dirty="0"/>
              <a:t>Tekst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Datum &amp; Tijd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types 2/3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943346"/>
              </p:ext>
            </p:extLst>
          </p:nvPr>
        </p:nvGraphicFramePr>
        <p:xfrm>
          <a:off x="1565846" y="2507570"/>
          <a:ext cx="4212307" cy="3449674"/>
        </p:xfrm>
        <a:graphic>
          <a:graphicData uri="http://schemas.openxmlformats.org/drawingml/2006/table">
            <a:tbl>
              <a:tblPr/>
              <a:tblGrid>
                <a:gridCol w="146310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1968153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padded</a:t>
                      </a:r>
                      <a:b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256 tekens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(n)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 + 2</a:t>
                      </a:r>
                      <a:b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256 tekens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  <a:tr h="2347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(n)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1-4000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2*n bytes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padded</a:t>
                      </a:r>
                      <a:b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 65.000 tekens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70674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nvarchar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1-4000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2*n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bytes + 2</a:t>
                      </a:r>
                      <a:b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 65.000 tekens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001320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(max)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&lt;= 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vervangt oude </a:t>
                      </a:r>
                      <a:r>
                        <a:rPr lang="nl-NL" sz="1600" kern="1200" baseline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text</a:t>
                      </a:r>
                      <a:endParaRPr lang="nl-NL" sz="1600" kern="12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962043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nvarchar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(max)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&lt;= 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vervangt oude </a:t>
                      </a:r>
                      <a:r>
                        <a:rPr lang="nl-NL" sz="1600" kern="1200" baseline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ntext</a:t>
                      </a:r>
                      <a:endParaRPr lang="nl-NL" sz="1600" kern="12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803106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867979"/>
              </p:ext>
            </p:extLst>
          </p:nvPr>
        </p:nvGraphicFramePr>
        <p:xfrm>
          <a:off x="6677846" y="2507570"/>
          <a:ext cx="5018854" cy="1303944"/>
        </p:xfrm>
        <a:graphic>
          <a:graphicData uri="http://schemas.openxmlformats.org/drawingml/2006/table">
            <a:tbl>
              <a:tblPr/>
              <a:tblGrid>
                <a:gridCol w="143745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endParaRPr lang="nl-NL" sz="16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jan 1753 - 31 dec 9999 /</a:t>
                      </a:r>
                      <a:b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.000, .003 of .007 sec.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smalldatetime</a:t>
                      </a:r>
                      <a:endParaRPr lang="nl-NL" sz="16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jan 1900 - 6 jun 2079 / 1 min.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604987"/>
              </p:ext>
            </p:extLst>
          </p:nvPr>
        </p:nvGraphicFramePr>
        <p:xfrm>
          <a:off x="6677846" y="3902732"/>
          <a:ext cx="5018854" cy="1986408"/>
        </p:xfrm>
        <a:graphic>
          <a:graphicData uri="http://schemas.openxmlformats.org/drawingml/2006/table">
            <a:tbl>
              <a:tblPr/>
              <a:tblGrid>
                <a:gridCol w="143745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r>
                        <a:rPr lang="nl-NL" sz="16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6-8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jan </a:t>
                      </a: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0001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- 31 dec 9999 /</a:t>
                      </a:r>
                      <a:b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nl-NL" sz="16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nano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sec.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jan 1900 - 6 jun 2079 / 1 min.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3-5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enkel tijd / 100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nano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sec.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47473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datetimeoffset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8-10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jan 0001 - 31 dec 9999 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nl-NL" sz="16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nano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sec. + timezone info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884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678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1296000" y="2016000"/>
            <a:ext cx="9864000" cy="4140000"/>
          </a:xfrm>
        </p:spPr>
        <p:txBody>
          <a:bodyPr/>
          <a:lstStyle/>
          <a:p>
            <a:r>
              <a:rPr lang="nl-NL" dirty="0"/>
              <a:t>Overig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types 3/3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282024"/>
              </p:ext>
            </p:extLst>
          </p:nvPr>
        </p:nvGraphicFramePr>
        <p:xfrm>
          <a:off x="1565846" y="2507570"/>
          <a:ext cx="7463854" cy="3087468"/>
        </p:xfrm>
        <a:graphic>
          <a:graphicData uri="http://schemas.openxmlformats.org/drawingml/2006/table">
            <a:tbl>
              <a:tblPr/>
              <a:tblGrid>
                <a:gridCol w="164725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4978400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uniqueidentifier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64bit GUID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8383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geometry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vlak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164347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geography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506269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xml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XML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in </a:t>
                      </a:r>
                      <a:r>
                        <a:rPr lang="nl-NL" sz="16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hierarchische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structuur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sql_variant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ondersteuning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van verschillende data typen in één kolom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869889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hierarchyid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positie in een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hierarchy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001320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cursor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enkel bij cursor operaties (niet om op te slaan)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962043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table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enkel bij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queries</a:t>
                      </a: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(niet om op te slaan)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803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705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96001" y="1837865"/>
            <a:ext cx="7238400" cy="65355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Impliciete Data Conversie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764" y="2893961"/>
            <a:ext cx="1197969" cy="3470827"/>
          </a:xfrm>
          <a:prstGeom prst="rect">
            <a:avLst/>
          </a:prstGeom>
        </p:spPr>
      </p:pic>
      <p:sp>
        <p:nvSpPr>
          <p:cNvPr id="4" name="Up Arrow 3"/>
          <p:cNvSpPr/>
          <p:nvPr/>
        </p:nvSpPr>
        <p:spPr>
          <a:xfrm>
            <a:off x="3607101" y="2893961"/>
            <a:ext cx="1117600" cy="3470827"/>
          </a:xfrm>
          <a:prstGeom prst="upArrow">
            <a:avLst>
              <a:gd name="adj1" fmla="val 50000"/>
              <a:gd name="adj2" fmla="val 9886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4960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Expliciete Data Conversie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NL" dirty="0"/>
              <a:t>CAST()</a:t>
            </a:r>
          </a:p>
          <a:p>
            <a:r>
              <a:rPr lang="nl-NL" dirty="0"/>
              <a:t>CONVERT()</a:t>
            </a:r>
          </a:p>
          <a:p>
            <a:pPr lvl="1"/>
            <a:r>
              <a:rPr lang="nl-NL" dirty="0"/>
              <a:t>TRY_CONVERT()</a:t>
            </a:r>
          </a:p>
          <a:p>
            <a:r>
              <a:rPr lang="nl-NL" dirty="0"/>
              <a:t>PARSE()</a:t>
            </a:r>
          </a:p>
          <a:p>
            <a:pPr lvl="1"/>
            <a:r>
              <a:rPr lang="nl-NL" dirty="0"/>
              <a:t>TRY_PARSE()</a:t>
            </a:r>
          </a:p>
        </p:txBody>
      </p:sp>
    </p:spTree>
    <p:extLst>
      <p:ext uri="{BB962C8B-B14F-4D97-AF65-F5344CB8AC3E}">
        <p14:creationId xmlns:p14="http://schemas.microsoft.com/office/powerpoint/2010/main" val="2931553398"/>
      </p:ext>
    </p:extLst>
  </p:cSld>
  <p:clrMapOvr>
    <a:masterClrMapping/>
  </p:clrMapOvr>
</p:sld>
</file>

<file path=ppt/theme/theme1.xml><?xml version="1.0" encoding="utf-8"?>
<a:theme xmlns:a="http://schemas.openxmlformats.org/drawingml/2006/main" name="InfoSupport">
  <a:themeElements>
    <a:clrScheme name="InfoSupport">
      <a:dk1>
        <a:srgbClr val="133561"/>
      </a:dk1>
      <a:lt1>
        <a:sysClr val="window" lastClr="FFFFFF"/>
      </a:lt1>
      <a:dk2>
        <a:srgbClr val="000000"/>
      </a:dk2>
      <a:lt2>
        <a:srgbClr val="FFFFFF"/>
      </a:lt2>
      <a:accent1>
        <a:srgbClr val="133561"/>
      </a:accent1>
      <a:accent2>
        <a:srgbClr val="007FC3"/>
      </a:accent2>
      <a:accent3>
        <a:srgbClr val="CAE744"/>
      </a:accent3>
      <a:accent4>
        <a:srgbClr val="A0BBE3"/>
      </a:accent4>
      <a:accent5>
        <a:srgbClr val="8587A3"/>
      </a:accent5>
      <a:accent6>
        <a:srgbClr val="C7D64A"/>
      </a:accent6>
      <a:hlink>
        <a:srgbClr val="007FC3"/>
      </a:hlink>
      <a:folHlink>
        <a:srgbClr val="007FC3"/>
      </a:folHlink>
    </a:clrScheme>
    <a:fontScheme name="InfoSup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Support presentatie.potx" id="{7DAF46F7-D630-490F-B8F3-36A8111C9316}" vid="{AD729A4C-E615-4DD0-B9D1-A3FA0FFAE0BB}"/>
    </a:ext>
  </a:extLst>
</a:theme>
</file>

<file path=ppt/theme/theme2.xml><?xml version="1.0" encoding="utf-8"?>
<a:theme xmlns:a="http://schemas.openxmlformats.org/drawingml/2006/main" name="Kantoorthema">
  <a:themeElements>
    <a:clrScheme name="InfoSupport">
      <a:dk1>
        <a:srgbClr val="133561"/>
      </a:dk1>
      <a:lt1>
        <a:sysClr val="window" lastClr="FFFFFF"/>
      </a:lt1>
      <a:dk2>
        <a:srgbClr val="000000"/>
      </a:dk2>
      <a:lt2>
        <a:srgbClr val="FFFFFF"/>
      </a:lt2>
      <a:accent1>
        <a:srgbClr val="133561"/>
      </a:accent1>
      <a:accent2>
        <a:srgbClr val="007FC3"/>
      </a:accent2>
      <a:accent3>
        <a:srgbClr val="7F7F7F"/>
      </a:accent3>
      <a:accent4>
        <a:srgbClr val="A5A5A5"/>
      </a:accent4>
      <a:accent5>
        <a:srgbClr val="CCCCCC"/>
      </a:accent5>
      <a:accent6>
        <a:srgbClr val="133561"/>
      </a:accent6>
      <a:hlink>
        <a:srgbClr val="007FC3"/>
      </a:hlink>
      <a:folHlink>
        <a:srgbClr val="007FC3"/>
      </a:folHlink>
    </a:clrScheme>
    <a:fontScheme name="InfoSup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InfoSupport">
      <a:dk1>
        <a:srgbClr val="133561"/>
      </a:dk1>
      <a:lt1>
        <a:sysClr val="window" lastClr="FFFFFF"/>
      </a:lt1>
      <a:dk2>
        <a:srgbClr val="000000"/>
      </a:dk2>
      <a:lt2>
        <a:srgbClr val="FFFFFF"/>
      </a:lt2>
      <a:accent1>
        <a:srgbClr val="133561"/>
      </a:accent1>
      <a:accent2>
        <a:srgbClr val="007FC3"/>
      </a:accent2>
      <a:accent3>
        <a:srgbClr val="7F7F7F"/>
      </a:accent3>
      <a:accent4>
        <a:srgbClr val="A5A5A5"/>
      </a:accent4>
      <a:accent5>
        <a:srgbClr val="CCCCCC"/>
      </a:accent5>
      <a:accent6>
        <a:srgbClr val="133561"/>
      </a:accent6>
      <a:hlink>
        <a:srgbClr val="007FC3"/>
      </a:hlink>
      <a:folHlink>
        <a:srgbClr val="007FC3"/>
      </a:folHlink>
    </a:clrScheme>
    <a:fontScheme name="InfoSup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58805C9A31ED4698AA5994F7540466" ma:contentTypeVersion="1" ma:contentTypeDescription="Een nieuw document maken." ma:contentTypeScope="" ma:versionID="5cab34e6f8d54d32c51f192539e9981c">
  <xsd:schema xmlns:xsd="http://www.w3.org/2001/XMLSchema" xmlns:xs="http://www.w3.org/2001/XMLSchema" xmlns:p="http://schemas.microsoft.com/office/2006/metadata/properties" xmlns:ns2="a73fd6a0-a740-4ca0-a47f-6beba88ccc77" targetNamespace="http://schemas.microsoft.com/office/2006/metadata/properties" ma:root="true" ma:fieldsID="10b3ae9c115bae24efdfd9076c93080b" ns2:_="">
    <xsd:import namespace="a73fd6a0-a740-4ca0-a47f-6beba88ccc77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3fd6a0-a740-4ca0-a47f-6beba88ccc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C5726C-A652-4DAC-B8E2-EBAE536484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2D367F-CDF8-41AC-AFB7-55F4C9891DC2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a73fd6a0-a740-4ca0-a47f-6beba88ccc7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CF14C6E-D876-4429-BF27-1136D6CA11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3fd6a0-a740-4ca0-a47f-6beba88ccc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554</Words>
  <Application>Microsoft Office PowerPoint</Application>
  <PresentationFormat>Widescreen</PresentationFormat>
  <Paragraphs>186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Times New Roman</vt:lpstr>
      <vt:lpstr>InfoSupport</vt:lpstr>
      <vt:lpstr>Data Types</vt:lpstr>
      <vt:lpstr>Waar gebruiken we data types?</vt:lpstr>
      <vt:lpstr>Data types 1/3</vt:lpstr>
      <vt:lpstr>Data types 2/3</vt:lpstr>
      <vt:lpstr>Data types 3/3</vt:lpstr>
      <vt:lpstr>Impliciete Data Conversie</vt:lpstr>
      <vt:lpstr>Expliciete Data Conversie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Kees van Loenen</dc:creator>
  <dc:description>Template by Orange Pepper_x000d_
Design by Beeldenfabriek_x000d_
2018</dc:description>
  <cp:lastModifiedBy>Kees van Loenen</cp:lastModifiedBy>
  <cp:revision>295</cp:revision>
  <cp:lastPrinted>2018-10-24T06:32:12Z</cp:lastPrinted>
  <dcterms:created xsi:type="dcterms:W3CDTF">2017-12-07T10:48:50Z</dcterms:created>
  <dcterms:modified xsi:type="dcterms:W3CDTF">2021-08-31T17:21:43Z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0x0101000858805C9A31ED4698AA5994F7540466</vt:lpwstr>
  </property>
</Properties>
</file>